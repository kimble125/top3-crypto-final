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2" r:id="rId12"/>
    <p:sldId id="273" r:id="rId13"/>
    <p:sldId id="274" r:id="rId14"/>
    <p:sldId id="266" r:id="rId15"/>
    <p:sldId id="267" r:id="rId16"/>
  </p:sldIdLst>
  <p:sldSz cx="18288000" cy="10287000"/>
  <p:notesSz cx="6858000" cy="9144000"/>
  <p:embeddedFontLst>
    <p:embeddedFont>
      <p:font typeface="Pretendard Bold" panose="020B0600000101010101" charset="-127"/>
      <p:bold r:id="rId17"/>
    </p:embeddedFont>
    <p:embeddedFont>
      <p:font typeface="Pretendard Regular" panose="020B0600000101010101" charset="-12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4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41.svg"/><Relationship Id="rId4" Type="http://schemas.openxmlformats.org/officeDocument/2006/relationships/image" Target="../media/image29.sv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12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4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7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Relationship Id="rId14" Type="http://schemas.openxmlformats.org/officeDocument/2006/relationships/image" Target="../media/image5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9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53.png"/><Relationship Id="rId4" Type="http://schemas.openxmlformats.org/officeDocument/2006/relationships/image" Target="../media/image6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23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13" Type="http://schemas.openxmlformats.org/officeDocument/2006/relationships/image" Target="../media/image76.svg"/><Relationship Id="rId3" Type="http://schemas.openxmlformats.org/officeDocument/2006/relationships/image" Target="../media/image66.png"/><Relationship Id="rId7" Type="http://schemas.openxmlformats.org/officeDocument/2006/relationships/image" Target="../media/image70.svg"/><Relationship Id="rId12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svg"/><Relationship Id="rId5" Type="http://schemas.openxmlformats.org/officeDocument/2006/relationships/image" Target="../media/image68.svg"/><Relationship Id="rId15" Type="http://schemas.openxmlformats.org/officeDocument/2006/relationships/image" Target="../media/image78.svg"/><Relationship Id="rId10" Type="http://schemas.openxmlformats.org/officeDocument/2006/relationships/image" Target="../media/image73.sv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800" y="2082800"/>
            <a:ext cx="6743700" cy="6743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3721100"/>
            <a:ext cx="2349500" cy="3162300"/>
          </a:xfrm>
          <a:prstGeom prst="rect">
            <a:avLst/>
          </a:prstGeom>
          <a:effectLst>
            <a:outerShdw blurRad="796671" dir="2700000">
              <a:srgbClr val="000000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0" y="2082800"/>
            <a:ext cx="1054100" cy="105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260000">
            <a:off x="15468600" y="2933700"/>
            <a:ext cx="3149600" cy="158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4380000">
            <a:off x="16713200" y="2451100"/>
            <a:ext cx="1003300" cy="1003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23900" y="6438900"/>
            <a:ext cx="10782300" cy="1879600"/>
          </a:xfrm>
          <a:prstGeom prst="rect">
            <a:avLst/>
          </a:prstGeom>
        </p:spPr>
        <p:txBody>
          <a:bodyPr lIns="0" tIns="198225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10405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Top </a:t>
            </a:r>
            <a:r>
              <a:rPr lang="en-US" sz="10405" b="0" i="0" u="none" strike="noStrike" cap="all">
                <a:solidFill>
                  <a:srgbClr val="58CCFF"/>
                </a:solidFill>
                <a:latin typeface="Pretendard Bold"/>
                <a:ea typeface="Pretendard Bold"/>
                <a:cs typeface="Pretendard Bold"/>
              </a:rPr>
              <a:t>3</a:t>
            </a:r>
            <a:r>
              <a:rPr lang="en-US" sz="10405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Crypto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3900" y="5829300"/>
            <a:ext cx="9842500" cy="647700"/>
          </a:xfrm>
          <a:prstGeom prst="rect">
            <a:avLst/>
          </a:prstGeom>
        </p:spPr>
        <p:txBody>
          <a:bodyPr lIns="0" tIns="4445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 cap="all" spc="-200">
                <a:solidFill>
                  <a:srgbClr val="42BDFF"/>
                </a:solidFill>
                <a:latin typeface="Pretendard Regular"/>
                <a:ea typeface="Pretendard Regular"/>
                <a:cs typeface="Pretendard Regular"/>
              </a:rPr>
              <a:t>코인을 처음 시작하는 사람을 위한 AI 트랜드 분석 플랫폼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0" y="9055100"/>
            <a:ext cx="4927600" cy="469900"/>
          </a:xfrm>
          <a:prstGeom prst="rect">
            <a:avLst/>
          </a:prstGeom>
        </p:spPr>
        <p:txBody>
          <a:bodyPr lIns="0" tIns="1587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99" b="0" i="0" u="none" strike="noStrike">
                <a:solidFill>
                  <a:srgbClr val="DEDEDE"/>
                </a:solidFill>
                <a:latin typeface="Pretendard Bold"/>
                <a:ea typeface="Pretendard Bold"/>
                <a:cs typeface="Pretendard Bold"/>
              </a:rPr>
              <a:t>Top 3 팀 :  문수향  ·  공정미  ·  김호연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300" y="9144000"/>
            <a:ext cx="4953000" cy="381000"/>
          </a:xfrm>
          <a:prstGeom prst="rect">
            <a:avLst/>
          </a:prstGeom>
        </p:spPr>
        <p:txBody>
          <a:bodyPr lIns="0" tIns="12881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028" b="0" i="0" u="none" strike="noStrike">
                <a:solidFill>
                  <a:srgbClr val="DEDEDE"/>
                </a:solidFill>
                <a:latin typeface="Pretendard Bold"/>
                <a:ea typeface="Pretendard Bold"/>
                <a:cs typeface="Pretendard Bold"/>
              </a:rPr>
              <a:t>코디세이 파이널 프로젝트 · 2026년 10월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63700" y="3886200"/>
            <a:ext cx="2705100" cy="270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66700" y="6629400"/>
            <a:ext cx="2197100" cy="2197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87600" y="6807200"/>
            <a:ext cx="3035300" cy="332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49300" y="1689100"/>
            <a:ext cx="12966700" cy="1625600"/>
          </a:xfrm>
          <a:prstGeom prst="rect">
            <a:avLst/>
          </a:prstGeom>
        </p:spPr>
        <p:txBody>
          <a:bodyPr lIns="0" tIns="170970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8974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Contents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800" y="64389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1054100" y="66294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9300" y="64389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9753600" y="66294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5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" y="81407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054100" y="83312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" y="45720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1054100" y="47625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3300" y="6616700"/>
            <a:ext cx="65786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팀과 역할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9300" y="45720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9753600" y="47625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73300" y="8318500"/>
            <a:ext cx="65786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기획 의도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87100" y="4762500"/>
            <a:ext cx="65786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 구현 핵심 포인트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39500" y="6477000"/>
            <a:ext cx="65786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altLang="en-US" sz="35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시연</a:t>
            </a:r>
            <a:endParaRPr lang="en-US" sz="35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273300" y="4826000"/>
            <a:ext cx="65786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Top 3 Crypto 소개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632200"/>
            <a:ext cx="5232400" cy="5232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380000">
            <a:off x="6299200" y="3733800"/>
            <a:ext cx="330200" cy="330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769100" y="3632200"/>
            <a:ext cx="74295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B8E9FF"/>
                </a:solidFill>
                <a:latin typeface="Pretendard Bold"/>
                <a:ea typeface="Pretendard Bold"/>
                <a:cs typeface="Pretendard Bold"/>
              </a:rPr>
              <a:t>THE ULTIMATE PLATFORM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7100" y="14732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1. Top 3 Crypto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소개</a:t>
            </a:r>
            <a:endParaRPr lang="en-US" sz="735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000500"/>
            <a:ext cx="4140200" cy="4140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69100" y="4508500"/>
            <a:ext cx="10414000" cy="37592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쏟아지는 뉴스, 복잡한 차트, 24시간 시장의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피로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.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
Top 3 Crypto' 는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AI가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시장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트랜드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분석과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퀀트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지표의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완벽한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교집합을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찾아내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글로벌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3대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디지털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자산인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비트코인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이더리움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,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리플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(XRP)의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최적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투자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타이밍을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짚어주고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, 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초보자의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크립토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이론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공부까지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겸하여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할수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있게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함으로써</a:t>
            </a:r>
            <a:endParaRPr lang="en-US" sz="32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성공적인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투자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독립까지를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돕는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올인원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웹 </a:t>
            </a:r>
            <a:r>
              <a:rPr lang="en-US" sz="32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플랫폼입니다</a:t>
            </a: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3606800"/>
            <a:ext cx="4559300" cy="311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380000">
            <a:off x="1231900" y="7239000"/>
            <a:ext cx="292100" cy="292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7747000"/>
            <a:ext cx="41275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전반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endParaRPr lang="en-US" sz="2499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회의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주관</a:t>
            </a:r>
            <a:endParaRPr lang="en-US" sz="2499" b="0" i="0" u="none" strike="noStrike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발표와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일정</a:t>
            </a:r>
            <a:endParaRPr lang="en-US" sz="2499" b="0" i="0" u="none" strike="noStrike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평가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신청</a:t>
            </a:r>
            <a:endParaRPr lang="en-US" sz="2499" b="0" i="0" u="none" strike="noStrike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27200" y="7137400"/>
            <a:ext cx="4152900" cy="5588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문수향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3606800"/>
            <a:ext cx="4559300" cy="311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4380000">
            <a:off x="6718300" y="7226300"/>
            <a:ext cx="292100" cy="292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213600" y="7683500"/>
            <a:ext cx="41275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99" b="0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글로벌 자산운용 AI SW 회사 </a:t>
            </a: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실무 경험자
퀀트 규칙 자문</a:t>
            </a: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AI 트랜드 분석 자문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3600" y="7137400"/>
            <a:ext cx="4152900" cy="5588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공정미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26900" y="3606800"/>
            <a:ext cx="4559300" cy="311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4380000">
            <a:off x="12077700" y="7226300"/>
            <a:ext cx="292100" cy="292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573000" y="7683500"/>
            <a:ext cx="41275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소스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개발</a:t>
            </a:r>
            <a:endParaRPr lang="en-US" sz="2499" b="0" i="0" u="none" strike="noStrike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수집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엔진</a:t>
            </a:r>
            <a:endParaRPr lang="en-US" sz="2499" b="0" i="0" u="none" strike="noStrike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대시보드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구현</a:t>
            </a:r>
          </a:p>
          <a:p>
            <a:pPr lvl="0" algn="l">
              <a:lnSpc>
                <a:spcPct val="116199"/>
              </a:lnSpc>
            </a:pP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디스코드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99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알림</a:t>
            </a:r>
            <a:r>
              <a:rPr lang="en-US" sz="2499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구현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73000" y="7137400"/>
            <a:ext cx="4152900" cy="558800"/>
          </a:xfrm>
          <a:prstGeom prst="rect">
            <a:avLst/>
          </a:prstGeom>
        </p:spPr>
        <p:txBody>
          <a:bodyPr lIns="0" tIns="1905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0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김호연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97100" y="14732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2.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팀과</a:t>
            </a: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역할</a:t>
            </a:r>
            <a:endParaRPr lang="en-US" sz="735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197100" y="13208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기획</a:t>
            </a: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의도</a:t>
            </a:r>
            <a:endParaRPr lang="en-US" sz="735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8354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1079500" y="40259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09800" y="4711700"/>
            <a:ext cx="9931400" cy="162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단순한 시그널 추종을 넘어, 웹 플랫폼 내에 초보자가 시장 흐름과 퀀트 분석 원리를 자연스럽게 체득할 수 있는 이론 학습 콘텐츠를 결합해 주도적인 투자자로 성장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36800" y="3962400"/>
            <a:ext cx="97155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B8E9FF"/>
                </a:solidFill>
                <a:latin typeface="Pretendard Bold"/>
                <a:ea typeface="Pretendard Bold"/>
                <a:cs typeface="Pretendard Bold"/>
              </a:rPr>
              <a:t>맹목적 투자를 넘어선 초보자 크립토 자립 지원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71501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079500" y="73406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10799999">
            <a:off x="901700" y="6604000"/>
            <a:ext cx="115062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5400000">
            <a:off x="13525500" y="5219700"/>
            <a:ext cx="4686300" cy="3924300"/>
          </a:xfrm>
          <a:prstGeom prst="rect">
            <a:avLst/>
          </a:prstGeom>
          <a:effectLst>
            <a:outerShdw blurRad="451294" dist="452804" dir="9540000">
              <a:srgbClr val="000000">
                <a:alpha val="26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87500" y="5410200"/>
            <a:ext cx="3251200" cy="3111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336800" y="7899400"/>
            <a:ext cx="9702800" cy="162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가장 유동성이 풍부하고 시장 신뢰도가 높은 비트코인(BTC), 이더리움(ETH), 리플(XRP)에만 AI 분석 역량을 집중하여 예측 불가능한 알트코인 변동성으로부터 초보자의 리스크를 대폭 낮춤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36800" y="7150100"/>
            <a:ext cx="97155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B8E9FF"/>
                </a:solidFill>
                <a:latin typeface="Pretendard Bold"/>
                <a:ea typeface="Pretendard Bold"/>
                <a:cs typeface="Pretendard Bold"/>
              </a:rPr>
              <a:t>3대 메이저 자산 집중을 통한 리스크 최소화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250AF22A-5A10-7E3C-E136-A2A6AE51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20320"/>
            <a:ext cx="18271847" cy="1018032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800" y="266700"/>
            <a:ext cx="2959100" cy="24511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B68DEC1-CBCD-7445-F2B0-45496A358333}"/>
              </a:ext>
            </a:extLst>
          </p:cNvPr>
          <p:cNvGrpSpPr/>
          <p:nvPr/>
        </p:nvGrpSpPr>
        <p:grpSpPr>
          <a:xfrm>
            <a:off x="11808885" y="523309"/>
            <a:ext cx="3218668" cy="2224240"/>
            <a:chOff x="3009900" y="3873500"/>
            <a:chExt cx="6286500" cy="4406900"/>
          </a:xfrm>
        </p:grpSpPr>
        <p:pic>
          <p:nvPicPr>
            <p:cNvPr id="2" name="Picture 5">
              <a:extLst>
                <a:ext uri="{FF2B5EF4-FFF2-40B4-BE49-F238E27FC236}">
                  <a16:creationId xmlns:a16="http://schemas.microsoft.com/office/drawing/2014/main" id="{D2B5F281-5CE1-FCFF-581D-FE531A8A2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2500" y="3873500"/>
              <a:ext cx="5803900" cy="3987800"/>
            </a:xfrm>
            <a:prstGeom prst="rect">
              <a:avLst/>
            </a:prstGeom>
          </p:spPr>
        </p:pic>
        <p:pic>
          <p:nvPicPr>
            <p:cNvPr id="3" name="Picture 6">
              <a:extLst>
                <a:ext uri="{FF2B5EF4-FFF2-40B4-BE49-F238E27FC236}">
                  <a16:creationId xmlns:a16="http://schemas.microsoft.com/office/drawing/2014/main" id="{18B4870C-590A-D3EB-0A76-C5E801208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09900" y="5778500"/>
              <a:ext cx="2501900" cy="2501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197100" y="13208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기획</a:t>
            </a: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의도</a:t>
            </a:r>
            <a:endParaRPr lang="en-US" sz="735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8354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1079500" y="40259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11400" y="4711700"/>
            <a:ext cx="9740900" cy="162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365일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쉬지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않는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크립토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시장의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모니터링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한계를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AI로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대체하여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하루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4회(6시간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간격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)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정밀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분석을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통해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투자자의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피로를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없애고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일관된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의사결정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기준을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확립</a:t>
            </a:r>
            <a:endParaRPr lang="en-US" sz="3000" b="0" i="0" u="none" strike="noStrike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36800" y="3962400"/>
            <a:ext cx="97155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B96BC6"/>
                </a:solidFill>
                <a:latin typeface="Pretendard Bold"/>
                <a:ea typeface="Pretendard Bold"/>
                <a:cs typeface="Pretendard Bold"/>
              </a:rPr>
              <a:t>24시간 시장 피로도 극복 및 매매 기준 자동화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71501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079500" y="73406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10799999">
            <a:off x="901700" y="6604000"/>
            <a:ext cx="115062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5400000">
            <a:off x="13525500" y="5219700"/>
            <a:ext cx="4686300" cy="3924300"/>
          </a:xfrm>
          <a:prstGeom prst="rect">
            <a:avLst/>
          </a:prstGeom>
          <a:effectLst>
            <a:outerShdw blurRad="451294" dist="452804" dir="9540000">
              <a:srgbClr val="000000">
                <a:alpha val="26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87500" y="5410200"/>
            <a:ext cx="3251200" cy="3111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273300" y="7899400"/>
            <a:ext cx="9817100" cy="162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거시경제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및 뉴스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심리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(Sentiment)와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기술적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퀀트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지표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(MACD,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StoRSI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, VPCI 등)가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동일한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방향을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가리킬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때만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필터링하여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정보의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홍수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속에서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발생하는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판단의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괴리와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감정적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오류를</a:t>
            </a:r>
            <a:r>
              <a:rPr lang="en-US" sz="3000" b="0" i="0" u="none" strike="noStrike" dirty="0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000" b="0" i="0" u="none" strike="noStrike" dirty="0" err="1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제거</a:t>
            </a:r>
            <a:endParaRPr lang="en-US" sz="3000" b="0" i="0" u="none" strike="noStrike" dirty="0">
              <a:solidFill>
                <a:srgbClr val="DEDEDE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336800" y="7150100"/>
            <a:ext cx="97155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B96BC6"/>
                </a:solidFill>
                <a:latin typeface="Pretendard Bold"/>
                <a:ea typeface="Pretendard Bold"/>
                <a:cs typeface="Pretendard Bold"/>
              </a:rPr>
              <a:t>정성적 데이터와 정량적 지표의 완벽한 결합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197100" y="13208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기획</a:t>
            </a: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의도</a:t>
            </a:r>
            <a:endParaRPr lang="en-US" sz="735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4826000"/>
            <a:ext cx="990600" cy="990600"/>
          </a:xfrm>
          <a:prstGeom prst="rect">
            <a:avLst/>
          </a:prstGeom>
          <a:effectLst>
            <a:outerShdw blurRad="113919" dist="114300" dir="4140000">
              <a:srgbClr val="000000">
                <a:alpha val="26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1079500" y="5016500"/>
            <a:ext cx="774700" cy="635000"/>
          </a:xfrm>
          <a:prstGeom prst="rect">
            <a:avLst/>
          </a:prstGeom>
        </p:spPr>
        <p:txBody>
          <a:bodyPr lIns="0" tIns="87087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3428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36800" y="5702300"/>
            <a:ext cx="9702800" cy="162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시장 노이즈에 의한 무분별한 잦은 매매를 방지하고, 철저히 조건이 부합된 고신뢰도 매수/매도(Long/Short) 시그널만을 디스코드로 즉각 전달해 실전 매매의 안정성을 극대화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4100" y="4953000"/>
            <a:ext cx="10172700" cy="64770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500" b="0" i="0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노이즈를 배제한 고신뢰도 실시간 시그널 전송(디스코드)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5400000">
            <a:off x="13525500" y="5219700"/>
            <a:ext cx="4686300" cy="3924300"/>
          </a:xfrm>
          <a:prstGeom prst="rect">
            <a:avLst/>
          </a:prstGeom>
          <a:effectLst>
            <a:outerShdw blurRad="451294" dist="452804" dir="9540000">
              <a:srgbClr val="000000">
                <a:alpha val="26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7500" y="5410200"/>
            <a:ext cx="3251200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0ED888BE-D97C-BD30-E541-9CCAB94A3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08320" cy="1029843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572000" y="647700"/>
            <a:ext cx="10477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 4.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구현</a:t>
            </a: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핵심 포인트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9A101-3CFE-9545-32BE-102D2772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D2E8C7D-CF65-5BAD-FAF8-A71864EC6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" y="0"/>
            <a:ext cx="18227040" cy="1025271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2091A547-E738-0ACD-0DCE-97402ABF10C2}"/>
              </a:ext>
            </a:extLst>
          </p:cNvPr>
          <p:cNvSpPr txBox="1"/>
          <p:nvPr/>
        </p:nvSpPr>
        <p:spPr>
          <a:xfrm>
            <a:off x="4572000" y="647700"/>
            <a:ext cx="10477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  4.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구현</a:t>
            </a: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핵심 포인트</a:t>
            </a:r>
          </a:p>
        </p:txBody>
      </p:sp>
    </p:spTree>
    <p:extLst>
      <p:ext uri="{BB962C8B-B14F-4D97-AF65-F5344CB8AC3E}">
        <p14:creationId xmlns:p14="http://schemas.microsoft.com/office/powerpoint/2010/main" val="261960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27587">
            <a:off x="7124700" y="5702300"/>
            <a:ext cx="45974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1440647">
            <a:off x="2921000" y="5676900"/>
            <a:ext cx="46101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1430324">
            <a:off x="11391900" y="5765800"/>
            <a:ext cx="4508500" cy="63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019300" y="9398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  4.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구현</a:t>
            </a: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핵심</a:t>
            </a: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포인트</a:t>
            </a:r>
            <a:endParaRPr kumimoji="0" lang="en-US" sz="735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588000" y="2489200"/>
            <a:ext cx="7366000" cy="596900"/>
          </a:xfrm>
          <a:prstGeom prst="rect">
            <a:avLst/>
          </a:prstGeom>
        </p:spPr>
        <p:txBody>
          <a:bodyPr lIns="0" tIns="41242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47" b="0" i="0" u="none" strike="noStrike" kern="1200" cap="none" spc="-100" normalizeH="0" baseline="0" noProof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AI 트렌드 분석 리포트 자동 생성 (일 4회)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4380000">
            <a:off x="2032000" y="5435600"/>
            <a:ext cx="2209800" cy="2209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70000" y="8610600"/>
            <a:ext cx="37465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트렌드 방향(Long/Short), 예상 변동률 및 가격 범위, </a:t>
            </a:r>
          </a:p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롱/숏 커버링 등 요약 추론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0000" y="7962900"/>
            <a:ext cx="40259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AI Strategy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62200" y="5880100"/>
            <a:ext cx="1524000" cy="1346200"/>
          </a:xfrm>
          <a:prstGeom prst="rect">
            <a:avLst/>
          </a:prstGeom>
        </p:spPr>
        <p:txBody>
          <a:bodyPr lIns="0" tIns="141319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1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7950200"/>
            <a:ext cx="368300" cy="406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4380000">
            <a:off x="10401300" y="5435600"/>
            <a:ext cx="2209800" cy="2209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744200" y="5930900"/>
            <a:ext cx="1524000" cy="1346200"/>
          </a:xfrm>
          <a:prstGeom prst="rect">
            <a:avLst/>
          </a:prstGeom>
        </p:spPr>
        <p:txBody>
          <a:bodyPr lIns="0" tIns="141319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1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0500" y="7950200"/>
            <a:ext cx="368300" cy="406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4380000">
            <a:off x="6223000" y="3657600"/>
            <a:ext cx="2209800" cy="2209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553200" y="3962400"/>
            <a:ext cx="1524000" cy="1346200"/>
          </a:xfrm>
          <a:prstGeom prst="rect">
            <a:avLst/>
          </a:prstGeom>
        </p:spPr>
        <p:txBody>
          <a:bodyPr lIns="0" tIns="141319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1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200" y="6172200"/>
            <a:ext cx="368300" cy="406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4380000">
            <a:off x="14579600" y="3657600"/>
            <a:ext cx="2209800" cy="2209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935200" y="4127500"/>
            <a:ext cx="1524000" cy="1346200"/>
          </a:xfrm>
          <a:prstGeom prst="rect">
            <a:avLst/>
          </a:prstGeom>
        </p:spPr>
        <p:txBody>
          <a:bodyPr lIns="0" tIns="141319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1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71500" y="6172200"/>
            <a:ext cx="368300" cy="406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549900" y="6096000"/>
            <a:ext cx="40259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Confidence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84800" y="6807200"/>
            <a:ext cx="40005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신뢰도 수준(%), </a:t>
            </a:r>
          </a:p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주요 시그널 및 잠재적 리스크 요인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40900" y="7886700"/>
            <a:ext cx="40259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News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02800" y="8610600"/>
            <a:ext cx="42672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기관 매수, ETF 유출입, 거시</a:t>
            </a:r>
          </a:p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경제(금리, CPI 등) 헤드라인을 </a:t>
            </a:r>
          </a:p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바탕으로 한 상승/하락 심리 분석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93800" y="6096000"/>
            <a:ext cx="48133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Fear &amp; Greed Analysis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43000" y="6807200"/>
            <a:ext cx="37465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탐욕/공포 지수 변화에 따른 차익실현 압력 및 시장 심리 진단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839999">
            <a:off x="6057900" y="5448300"/>
            <a:ext cx="42672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19300" y="9398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  4.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구현</a:t>
            </a: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핵심</a:t>
            </a: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포인트</a:t>
            </a:r>
            <a:endParaRPr kumimoji="0" lang="en-US" sz="735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8000" y="2489200"/>
            <a:ext cx="7366000" cy="596900"/>
          </a:xfrm>
          <a:prstGeom prst="rect">
            <a:avLst/>
          </a:prstGeom>
        </p:spPr>
        <p:txBody>
          <a:bodyPr lIns="0" tIns="41242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47" b="0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AI </a:t>
            </a:r>
            <a:r>
              <a:rPr kumimoji="0" lang="en-US" sz="3247" b="0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트렌드</a:t>
            </a:r>
            <a:r>
              <a:rPr kumimoji="0" lang="en-US" sz="3247" b="0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247" b="0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kumimoji="0" lang="en-US" sz="3247" b="0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247" b="0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리포트</a:t>
            </a:r>
            <a:r>
              <a:rPr kumimoji="0" lang="en-US" sz="3247" b="0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247" b="0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자동</a:t>
            </a:r>
            <a:r>
              <a:rPr kumimoji="0" lang="en-US" sz="3247" b="0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247" b="0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생성</a:t>
            </a:r>
            <a:r>
              <a:rPr kumimoji="0" lang="en-US" sz="3247" b="0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(일 4회)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380000">
            <a:off x="4241800" y="4813300"/>
            <a:ext cx="2209800" cy="2209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794000" y="8128000"/>
            <a:ext cx="52324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코인베이스 프리미엄 지수(미국 현물</a:t>
            </a:r>
          </a:p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/기관 매수 압력) 및 미결제약정(Open Interest) 증감을 통한 상승/하락 지속성 파악.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55900" y="7416800"/>
            <a:ext cx="65532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Market Flow &amp; Derivatives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2000" y="5257800"/>
            <a:ext cx="1524000" cy="1346200"/>
          </a:xfrm>
          <a:prstGeom prst="rect">
            <a:avLst/>
          </a:prstGeom>
        </p:spPr>
        <p:txBody>
          <a:bodyPr lIns="0" tIns="141319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1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5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" y="7505700"/>
            <a:ext cx="368300" cy="40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4380000">
            <a:off x="9829800" y="3771900"/>
            <a:ext cx="2209800" cy="2209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160000" y="4089400"/>
            <a:ext cx="1524000" cy="1346200"/>
          </a:xfrm>
          <a:prstGeom prst="rect">
            <a:avLst/>
          </a:prstGeom>
        </p:spPr>
        <p:txBody>
          <a:bodyPr lIns="0" tIns="141319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1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6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0" y="6299200"/>
            <a:ext cx="368300" cy="406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156700" y="6223000"/>
            <a:ext cx="40259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Technical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18600" y="6934200"/>
            <a:ext cx="48260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9" b="0" i="0" u="none" strike="noStrike" kern="1200" cap="none" spc="0" normalizeH="0" baseline="0" noProof="0">
                <a:ln>
                  <a:noFill/>
                </a:ln>
                <a:solidFill>
                  <a:srgbClr val="DEDEDE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MACD, Stochastic, StochRSI, VPCI 등의 지표를 종합한 상세 해석.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380000">
            <a:off x="2994218" y="9404954"/>
            <a:ext cx="292100" cy="292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687565" y="9292435"/>
            <a:ext cx="41656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디스코드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화면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97100" y="50167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  4.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구현</a:t>
            </a: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핵심</a:t>
            </a:r>
            <a:r>
              <a:rPr kumimoji="0" lang="en-US" sz="735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735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포인트</a:t>
            </a:r>
            <a:endParaRPr kumimoji="0" lang="en-US" sz="735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83574" y="1947243"/>
            <a:ext cx="12090400" cy="7366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디스코드로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최적의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매수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/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매도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타점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실시간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알림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&amp; 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성능</a:t>
            </a:r>
            <a:r>
              <a:rPr kumimoji="0" lang="en-US" sz="3999" b="1" i="0" u="none" strike="noStrike" kern="1200" cap="none" spc="-100" normalizeH="0" baseline="0" noProof="0" dirty="0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sz="3999" b="1" i="0" u="none" strike="noStrike" kern="1200" cap="none" spc="-100" normalizeH="0" baseline="0" noProof="0" dirty="0" err="1">
                <a:ln>
                  <a:noFill/>
                </a:ln>
                <a:solidFill>
                  <a:srgbClr val="42BD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평가</a:t>
            </a:r>
            <a:endParaRPr kumimoji="0" lang="en-US" sz="3999" b="1" i="0" u="none" strike="noStrike" kern="1200" cap="none" spc="-100" normalizeH="0" baseline="0" noProof="0" dirty="0">
              <a:ln>
                <a:noFill/>
              </a:ln>
              <a:solidFill>
                <a:srgbClr val="42BDFF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380000">
            <a:off x="8400354" y="9411863"/>
            <a:ext cx="292100" cy="292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052275" y="9329179"/>
            <a:ext cx="86868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Performance (#BTC_Inception 2026-10-7)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64AE22-4740-C942-F994-8D83A314D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7864" y="3162300"/>
            <a:ext cx="6873836" cy="59060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237416B-44A9-6EB7-A84D-724EFE7A5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2852" y="3315502"/>
            <a:ext cx="8165947" cy="255253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16649EF-2528-BFC5-F21B-AF6E55D86F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1037" y="6217181"/>
            <a:ext cx="8137762" cy="25184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197100" y="1422400"/>
            <a:ext cx="13906500" cy="1333500"/>
          </a:xfrm>
          <a:prstGeom prst="rect">
            <a:avLst/>
          </a:prstGeom>
        </p:spPr>
        <p:txBody>
          <a:bodyPr lIns="0" tIns="140080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7353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5. </a:t>
            </a:r>
            <a:r>
              <a:rPr lang="en-US" sz="7353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시연</a:t>
            </a:r>
            <a:endParaRPr lang="en-US" sz="7353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900" y="3365500"/>
            <a:ext cx="6781800" cy="527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536700" y="6705600"/>
            <a:ext cx="1714500" cy="1587500"/>
          </a:xfrm>
          <a:prstGeom prst="rect">
            <a:avLst/>
          </a:prstGeom>
          <a:effectLst>
            <a:outerShdw blurRad="181832" dist="182440" dir="9540000">
              <a:srgbClr val="000000">
                <a:alpha val="26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9600" y="7023100"/>
            <a:ext cx="10287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3454400" y="6705600"/>
            <a:ext cx="1714500" cy="1587500"/>
          </a:xfrm>
          <a:prstGeom prst="rect">
            <a:avLst/>
          </a:prstGeom>
          <a:effectLst>
            <a:outerShdw blurRad="181832" dist="182440" dir="9540000">
              <a:srgbClr val="000000">
                <a:alpha val="26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48100" y="7035800"/>
            <a:ext cx="939800" cy="939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6200000">
            <a:off x="5384800" y="6705600"/>
            <a:ext cx="1714500" cy="1587500"/>
          </a:xfrm>
          <a:prstGeom prst="rect">
            <a:avLst/>
          </a:prstGeom>
          <a:effectLst>
            <a:outerShdw blurRad="181832" dist="182440" dir="9540000">
              <a:srgbClr val="000000">
                <a:alpha val="26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91200" y="7048500"/>
            <a:ext cx="901700" cy="901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6200000">
            <a:off x="7302500" y="6705600"/>
            <a:ext cx="1714500" cy="1587500"/>
          </a:xfrm>
          <a:prstGeom prst="rect">
            <a:avLst/>
          </a:prstGeom>
          <a:effectLst>
            <a:outerShdw blurRad="181832" dist="182440" dir="9540000">
              <a:srgbClr val="000000">
                <a:alpha val="26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96200" y="7035800"/>
            <a:ext cx="939800" cy="939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01800" y="8610600"/>
            <a:ext cx="1371600" cy="406400"/>
          </a:xfrm>
          <a:prstGeom prst="rect">
            <a:avLst/>
          </a:prstGeom>
        </p:spPr>
        <p:txBody>
          <a:bodyPr lIns="0" tIns="41515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altLang="ko-KR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1. </a:t>
            </a:r>
            <a:r>
              <a:rPr lang="ko-KR" altLang="en-US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홈</a:t>
            </a:r>
            <a:r>
              <a:rPr lang="en-US" altLang="ko-KR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ko-KR" altLang="en-US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확신도</a:t>
            </a:r>
            <a:endParaRPr lang="en-US" sz="2179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32200" y="8610600"/>
            <a:ext cx="1371600" cy="406400"/>
          </a:xfrm>
          <a:prstGeom prst="rect">
            <a:avLst/>
          </a:prstGeom>
        </p:spPr>
        <p:txBody>
          <a:bodyPr lIns="0" tIns="41515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altLang="ko-KR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2. </a:t>
            </a:r>
            <a:r>
              <a:rPr lang="ko-KR" altLang="en-US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근거</a:t>
            </a:r>
            <a:endParaRPr lang="en-US" sz="2179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549900" y="8610600"/>
            <a:ext cx="1371600" cy="406400"/>
          </a:xfrm>
          <a:prstGeom prst="rect">
            <a:avLst/>
          </a:prstGeom>
        </p:spPr>
        <p:txBody>
          <a:bodyPr lIns="0" tIns="41515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3. AI </a:t>
            </a:r>
            <a:r>
              <a:rPr lang="ko-KR" altLang="en-US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분석</a:t>
            </a:r>
            <a:endParaRPr lang="en-US" sz="2179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480300" y="8610600"/>
            <a:ext cx="1371600" cy="406400"/>
          </a:xfrm>
          <a:prstGeom prst="rect">
            <a:avLst/>
          </a:prstGeom>
        </p:spPr>
        <p:txBody>
          <a:bodyPr lIns="0" tIns="41515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altLang="ko-KR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4. </a:t>
            </a:r>
            <a:r>
              <a:rPr lang="ko-KR" altLang="en-US" sz="2179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공부</a:t>
            </a:r>
            <a:endParaRPr lang="en-US" sz="2179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762000"/>
            <a:ext cx="6743700" cy="6743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100" y="2400300"/>
            <a:ext cx="2349500" cy="3162300"/>
          </a:xfrm>
          <a:prstGeom prst="rect">
            <a:avLst/>
          </a:prstGeom>
          <a:effectLst>
            <a:outerShdw blurRad="796671" dir="2700000">
              <a:srgbClr val="000000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774700"/>
            <a:ext cx="1054100" cy="105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260000">
            <a:off x="15468600" y="2933700"/>
            <a:ext cx="3149600" cy="158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4380000">
            <a:off x="16713200" y="2451100"/>
            <a:ext cx="1003300" cy="1003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419600" y="7594600"/>
            <a:ext cx="9347200" cy="1879600"/>
          </a:xfrm>
          <a:prstGeom prst="rect">
            <a:avLst/>
          </a:prstGeom>
        </p:spPr>
        <p:txBody>
          <a:bodyPr lIns="0" tIns="198225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10405" b="0" i="0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42900" y="698500"/>
            <a:ext cx="4660900" cy="469900"/>
          </a:xfrm>
          <a:prstGeom prst="rect">
            <a:avLst/>
          </a:prstGeom>
        </p:spPr>
        <p:txBody>
          <a:bodyPr lIns="0" tIns="3175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500" b="1" i="0" u="none" strike="noStrike">
                <a:solidFill>
                  <a:srgbClr val="DEDEDE"/>
                </a:solidFill>
                <a:latin typeface="Pretendard Regular"/>
                <a:ea typeface="Pretendard Regular"/>
                <a:cs typeface="Pretendard Regular"/>
              </a:rPr>
              <a:t>top3-crypto.vercel.app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90000" y="9359900"/>
            <a:ext cx="4927600" cy="469900"/>
          </a:xfrm>
          <a:prstGeom prst="rect">
            <a:avLst/>
          </a:prstGeom>
        </p:spPr>
        <p:txBody>
          <a:bodyPr lIns="0" tIns="15875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499" b="0" i="0" u="none" strike="noStrike">
                <a:solidFill>
                  <a:srgbClr val="DEDEDE"/>
                </a:solidFill>
                <a:latin typeface="Pretendard Bold"/>
                <a:ea typeface="Pretendard Bold"/>
                <a:cs typeface="Pretendard Bold"/>
              </a:rPr>
              <a:t>Top 3 팀 :  문수향  ·  공정미  ·  김호연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38600" y="9448800"/>
            <a:ext cx="4953000" cy="381000"/>
          </a:xfrm>
          <a:prstGeom prst="rect">
            <a:avLst/>
          </a:prstGeom>
        </p:spPr>
        <p:txBody>
          <a:bodyPr lIns="0" tIns="12881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028" b="0" i="0" u="none" strike="noStrike">
                <a:solidFill>
                  <a:srgbClr val="DEDEDE"/>
                </a:solidFill>
                <a:latin typeface="Pretendard Bold"/>
                <a:ea typeface="Pretendard Bold"/>
                <a:cs typeface="Pretendard Bold"/>
              </a:rPr>
              <a:t>코디세이 파이널 프로젝트 · 2026년 10월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4600" y="2578100"/>
            <a:ext cx="2705100" cy="2705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800" y="4978400"/>
            <a:ext cx="2197100" cy="2197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7000" y="292100"/>
            <a:ext cx="2197100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646</Words>
  <Application>Microsoft Office PowerPoint</Application>
  <PresentationFormat>사용자 지정</PresentationFormat>
  <Paragraphs>104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Arial</vt:lpstr>
      <vt:lpstr>Calibri</vt:lpstr>
      <vt:lpstr>Pretendard Bold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</dc:creator>
  <cp:lastModifiedBy>WIN</cp:lastModifiedBy>
  <cp:revision>4</cp:revision>
  <dcterms:created xsi:type="dcterms:W3CDTF">2006-08-16T00:00:00Z</dcterms:created>
  <dcterms:modified xsi:type="dcterms:W3CDTF">2026-10-20T12:29:15Z</dcterms:modified>
</cp:coreProperties>
</file>